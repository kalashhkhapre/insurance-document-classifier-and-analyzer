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99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9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39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94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22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97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31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8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41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35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94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67CC2-A36B-412B-B19B-93FE98C46752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05C17DC-E0FE-4D24-AA36-F94DC424A4C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82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05C9-C4FC-49F8-9248-C635B8916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Insurance Document AI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FF04E-A691-AD77-4BD3-BC0F3B3DF7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1200" dirty="0"/>
              <a:t>Kalash Khapre, 22070521100</a:t>
            </a:r>
          </a:p>
          <a:p>
            <a:r>
              <a:rPr lang="en-IN" sz="1200" dirty="0"/>
              <a:t>Deepak Yadav, 22070521023</a:t>
            </a:r>
          </a:p>
          <a:p>
            <a:r>
              <a:rPr lang="en-IN" sz="1200" dirty="0"/>
              <a:t>Harsh </a:t>
            </a:r>
            <a:r>
              <a:rPr lang="en-IN" sz="1200" dirty="0" err="1"/>
              <a:t>Khapekar</a:t>
            </a:r>
            <a:r>
              <a:rPr lang="en-IN" sz="1200" dirty="0"/>
              <a:t>, 22070521112</a:t>
            </a:r>
          </a:p>
        </p:txBody>
      </p:sp>
    </p:spTree>
    <p:extLst>
      <p:ext uri="{BB962C8B-B14F-4D97-AF65-F5344CB8AC3E}">
        <p14:creationId xmlns:p14="http://schemas.microsoft.com/office/powerpoint/2010/main" val="238160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8A9A-AFCF-4E25-86C6-4A7D4B6F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4463-5B55-B01A-5A56-90463FB25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567" y="2033469"/>
            <a:ext cx="6509573" cy="3450613"/>
          </a:xfrm>
        </p:spPr>
        <p:txBody>
          <a:bodyPr/>
          <a:lstStyle/>
          <a:p>
            <a:r>
              <a:rPr lang="en-US"/>
              <a:t>The Problem: </a:t>
            </a:r>
            <a:r>
              <a:rPr lang="en-US" dirty="0"/>
              <a:t>Manual Document Processing</a:t>
            </a:r>
          </a:p>
          <a:p>
            <a:pPr marL="0" indent="0">
              <a:buNone/>
            </a:pPr>
            <a:r>
              <a:rPr lang="en-US" dirty="0"/>
              <a:t>Current State: </a:t>
            </a:r>
          </a:p>
          <a:p>
            <a:pPr marL="0" indent="0">
              <a:buNone/>
            </a:pPr>
            <a:r>
              <a:rPr lang="en-US" dirty="0"/>
              <a:t>📄 Thousands of insurance documents processed daily </a:t>
            </a:r>
          </a:p>
          <a:p>
            <a:pPr marL="0" indent="0">
              <a:buNone/>
            </a:pPr>
            <a:r>
              <a:rPr lang="en-US" dirty="0"/>
              <a:t>⏱️ 5-10 minutes manual processing per document </a:t>
            </a:r>
          </a:p>
          <a:p>
            <a:pPr marL="0" indent="0">
              <a:buNone/>
            </a:pPr>
            <a:r>
              <a:rPr lang="en-US" dirty="0"/>
              <a:t>❌ 15-20% error rate in data entry </a:t>
            </a:r>
          </a:p>
          <a:p>
            <a:pPr marL="0" indent="0">
              <a:buNone/>
            </a:pPr>
            <a:r>
              <a:rPr lang="en-US" dirty="0"/>
              <a:t>💰 High operational costs </a:t>
            </a:r>
          </a:p>
          <a:p>
            <a:pPr marL="0" indent="0">
              <a:buNone/>
            </a:pPr>
            <a:r>
              <a:rPr lang="en-US" dirty="0"/>
              <a:t>📈 Not scalable with business growth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03FD0-63C6-003B-9B0F-2A21384738D0}"/>
              </a:ext>
            </a:extLst>
          </p:cNvPr>
          <p:cNvSpPr txBox="1"/>
          <p:nvPr/>
        </p:nvSpPr>
        <p:spPr>
          <a:xfrm>
            <a:off x="8098971" y="3125763"/>
            <a:ext cx="3826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Impact: </a:t>
            </a:r>
          </a:p>
          <a:p>
            <a:r>
              <a:rPr lang="en-US" dirty="0"/>
              <a:t>• Delayed claim processing </a:t>
            </a:r>
          </a:p>
          <a:p>
            <a:r>
              <a:rPr lang="en-US" dirty="0"/>
              <a:t>• Customer dissatisfaction </a:t>
            </a:r>
          </a:p>
          <a:p>
            <a:r>
              <a:rPr lang="en-US" dirty="0"/>
              <a:t>• Compliance risks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70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FA2A-D42F-AA16-CE57-50A6ED14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Solution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BC2A5-4842-75E6-459B-2EAE8D49E5CA}"/>
              </a:ext>
            </a:extLst>
          </p:cNvPr>
          <p:cNvSpPr txBox="1"/>
          <p:nvPr/>
        </p:nvSpPr>
        <p:spPr>
          <a:xfrm>
            <a:off x="979631" y="1995541"/>
            <a:ext cx="79335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An AI-powered system that automatically: </a:t>
            </a:r>
            <a:br>
              <a:rPr lang="en-US" dirty="0"/>
            </a:br>
            <a:r>
              <a:rPr lang="en-IN" dirty="0"/>
              <a:t>🔍 CLASSIFIES </a:t>
            </a:r>
          </a:p>
          <a:p>
            <a:pPr lvl="3"/>
            <a:r>
              <a:rPr lang="en-IN" dirty="0"/>
              <a:t>→ 5 document types with high accuracy </a:t>
            </a:r>
          </a:p>
          <a:p>
            <a:pPr lvl="3"/>
            <a:r>
              <a:rPr lang="en-IN" dirty="0"/>
              <a:t>→ Claim Forms, Invoices, Reports, Policies, Letters </a:t>
            </a:r>
          </a:p>
          <a:p>
            <a:pPr lvl="1"/>
            <a:r>
              <a:rPr lang="en-IN" dirty="0"/>
              <a:t>📊 EXTRACTS </a:t>
            </a:r>
          </a:p>
          <a:p>
            <a:pPr lvl="3"/>
            <a:r>
              <a:rPr lang="en-IN" dirty="0"/>
              <a:t>→ Structured data from unstructured PDFs </a:t>
            </a:r>
          </a:p>
          <a:p>
            <a:pPr lvl="3"/>
            <a:r>
              <a:rPr lang="en-IN" dirty="0"/>
              <a:t>→ Policy numbers, amounts, dates, status </a:t>
            </a:r>
          </a:p>
          <a:p>
            <a:pPr lvl="1"/>
            <a:r>
              <a:rPr lang="en-IN" dirty="0"/>
              <a:t>❓ QUERIES </a:t>
            </a:r>
          </a:p>
          <a:p>
            <a:pPr lvl="3"/>
            <a:r>
              <a:rPr lang="en-IN" dirty="0"/>
              <a:t>→ Natural language search interface </a:t>
            </a:r>
          </a:p>
          <a:p>
            <a:pPr lvl="3"/>
            <a:r>
              <a:rPr lang="en-IN" dirty="0"/>
              <a:t>→ "What is the claim amount?" </a:t>
            </a:r>
          </a:p>
          <a:p>
            <a:pPr lvl="1"/>
            <a:r>
              <a:rPr lang="en-IN" dirty="0"/>
              <a:t>⚡ DELIVERS </a:t>
            </a:r>
          </a:p>
          <a:p>
            <a:pPr lvl="3"/>
            <a:r>
              <a:rPr lang="en-IN" dirty="0"/>
              <a:t>→ Results in seconds</a:t>
            </a:r>
          </a:p>
          <a:p>
            <a:pPr lvl="3"/>
            <a:r>
              <a:rPr lang="en-IN" dirty="0"/>
              <a:t>→ 90% time savings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A99777A8-7EB2-BBF3-84BA-2F7DBA243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897" y="804519"/>
            <a:ext cx="3701845" cy="555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39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ACB2-C2C7-D093-C913-4791B20A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976" y="645237"/>
            <a:ext cx="5393838" cy="1049235"/>
          </a:xfrm>
        </p:spPr>
        <p:txBody>
          <a:bodyPr/>
          <a:lstStyle/>
          <a:p>
            <a:r>
              <a:rPr lang="en-IN" dirty="0"/>
              <a:t>System 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4E4DB25-3222-C734-38BA-B4FFDF6A1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860" y="1965508"/>
            <a:ext cx="692407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user uploads a document via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Processing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OCR (Tesseract) to extract all text and images from the file, supporting multi-page documents.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Classification Engine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analyzes the extracted content using AI models (Sentence Transformers for text, CLIP for images) to determine which of 5 document types it 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Multi-Agent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system, with specialized agents for context, critical fields, text analysis, visual analysis, and summarization, pulls out the specific information.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the final data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Output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export.</a:t>
            </a:r>
          </a:p>
        </p:txBody>
      </p:sp>
      <p:pic>
        <p:nvPicPr>
          <p:cNvPr id="9" name="Picture 8" descr="A diagram of a system&#10;&#10;AI-generated content may be incorrect.">
            <a:extLst>
              <a:ext uri="{FF2B5EF4-FFF2-40B4-BE49-F238E27FC236}">
                <a16:creationId xmlns:a16="http://schemas.microsoft.com/office/drawing/2014/main" id="{8BEDAC49-7BB2-D7E5-82E1-34EDBBFD4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226" y="438759"/>
            <a:ext cx="4066483" cy="60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94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9E6B-E211-8A92-9C34-106EBE6C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689" y="729191"/>
            <a:ext cx="5276392" cy="814556"/>
          </a:xfrm>
        </p:spPr>
        <p:txBody>
          <a:bodyPr/>
          <a:lstStyle/>
          <a:p>
            <a:r>
              <a:rPr lang="en-IN" dirty="0"/>
              <a:t>Technology Stack</a:t>
            </a:r>
          </a:p>
        </p:txBody>
      </p:sp>
      <p:pic>
        <p:nvPicPr>
          <p:cNvPr id="4" name="Picture 3" descr="A few rectangular boxes with text&#10;&#10;AI-generated content may be incorrect.">
            <a:extLst>
              <a:ext uri="{FF2B5EF4-FFF2-40B4-BE49-F238E27FC236}">
                <a16:creationId xmlns:a16="http://schemas.microsoft.com/office/drawing/2014/main" id="{5C81F882-A912-3E30-EFE1-45CE51A7E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843" y="879004"/>
            <a:ext cx="3783874" cy="5599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4BB1C0-7C82-F8F7-0FEB-A0A990FB8084}"/>
              </a:ext>
            </a:extLst>
          </p:cNvPr>
          <p:cNvSpPr txBox="1"/>
          <p:nvPr/>
        </p:nvSpPr>
        <p:spPr>
          <a:xfrm>
            <a:off x="394283" y="23489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062A601-D38C-6602-7F60-9F1BDC0FD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014" y="2120545"/>
            <a:ext cx="681891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This is the user interface. It uses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to create the modern web UI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to handle the backend logic for the interface.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AI/ML Models: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This layer contains the core AI components.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Sentence-BERT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is used to understand text (creating text embeddings),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CLIP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is a vision model for understanding images,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Tesseract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is the OCR engine used to extract text from images or documents.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Data Layer: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This layer manages data and computation.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FAISS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provides fast vector search (likely for finding similar text or images),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is the deep learning framework used to run the AI models,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NumPy/Pandas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are used for data processing and manipulation.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69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481C-3325-6006-82D7-E6F6E8DE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Multi-Agent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106169-9AA6-8C4E-2BE3-A47688BCC697}"/>
              </a:ext>
            </a:extLst>
          </p:cNvPr>
          <p:cNvSpPr txBox="1"/>
          <p:nvPr/>
        </p:nvSpPr>
        <p:spPr>
          <a:xfrm>
            <a:off x="1246604" y="2030936"/>
            <a:ext cx="38347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1️⃣ GENERAL AGENT </a:t>
            </a:r>
          </a:p>
          <a:p>
            <a:pPr lvl="1"/>
            <a:r>
              <a:rPr lang="en-IN" dirty="0"/>
              <a:t>• Combines text + image context </a:t>
            </a:r>
          </a:p>
          <a:p>
            <a:pPr lvl="1"/>
            <a:r>
              <a:rPr lang="en-IN" dirty="0"/>
              <a:t>• Multi-modal fusion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84DA5-981B-755F-159D-EB39A136D7E2}"/>
              </a:ext>
            </a:extLst>
          </p:cNvPr>
          <p:cNvSpPr txBox="1"/>
          <p:nvPr/>
        </p:nvSpPr>
        <p:spPr>
          <a:xfrm>
            <a:off x="6253216" y="2034371"/>
            <a:ext cx="49632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2️⃣ CRITICAL AGENT</a:t>
            </a:r>
          </a:p>
          <a:p>
            <a:pPr lvl="1"/>
            <a:r>
              <a:rPr lang="en-US" dirty="0"/>
              <a:t>• Extracts key fields (Policy #, Amount, Date) </a:t>
            </a:r>
          </a:p>
          <a:p>
            <a:pPr lvl="1"/>
            <a:r>
              <a:rPr lang="en-US" dirty="0"/>
              <a:t>• Pattern matching + NLP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C7719-35D6-DE00-D4EC-A9224948E058}"/>
              </a:ext>
            </a:extLst>
          </p:cNvPr>
          <p:cNvSpPr txBox="1"/>
          <p:nvPr/>
        </p:nvSpPr>
        <p:spPr>
          <a:xfrm>
            <a:off x="1246604" y="3336723"/>
            <a:ext cx="3344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3️⃣ TEXT AGENT </a:t>
            </a:r>
          </a:p>
          <a:p>
            <a:pPr lvl="1"/>
            <a:r>
              <a:rPr lang="en-US" dirty="0"/>
              <a:t>• Deep textual analysis </a:t>
            </a:r>
          </a:p>
          <a:p>
            <a:pPr lvl="1"/>
            <a:r>
              <a:rPr lang="en-US" dirty="0"/>
              <a:t>• Semantic understanding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A581E-709A-EB16-E637-C33773F755EA}"/>
              </a:ext>
            </a:extLst>
          </p:cNvPr>
          <p:cNvSpPr txBox="1"/>
          <p:nvPr/>
        </p:nvSpPr>
        <p:spPr>
          <a:xfrm>
            <a:off x="6253216" y="3336723"/>
            <a:ext cx="33441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4️⃣ IMAGE AGENT </a:t>
            </a:r>
          </a:p>
          <a:p>
            <a:pPr lvl="1"/>
            <a:r>
              <a:rPr lang="en-IN" dirty="0"/>
              <a:t>• Visual element detection </a:t>
            </a:r>
          </a:p>
          <a:p>
            <a:pPr lvl="1"/>
            <a:r>
              <a:rPr lang="en-IN" dirty="0"/>
              <a:t>• Table/signature recognition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29CC7-D320-D26F-9F36-BC62BC25D37C}"/>
              </a:ext>
            </a:extLst>
          </p:cNvPr>
          <p:cNvSpPr txBox="1"/>
          <p:nvPr/>
        </p:nvSpPr>
        <p:spPr>
          <a:xfrm>
            <a:off x="4023361" y="4404082"/>
            <a:ext cx="29386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5️⃣ SUMMARIZER AGENT </a:t>
            </a:r>
          </a:p>
          <a:p>
            <a:pPr lvl="1"/>
            <a:r>
              <a:rPr lang="en-US" dirty="0"/>
              <a:t>• Synthesizes all findings </a:t>
            </a:r>
          </a:p>
          <a:p>
            <a:pPr lvl="1"/>
            <a:r>
              <a:rPr lang="en-US" dirty="0"/>
              <a:t>• Confidence scoring </a:t>
            </a:r>
          </a:p>
          <a:p>
            <a:pPr lvl="1"/>
            <a:r>
              <a:rPr lang="en-US" dirty="0"/>
              <a:t>• Structured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96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472B-E4E9-CBD7-2247-D5BE7FF1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 Types Supported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67112-24BE-86E5-9212-C20AA5C0DACE}"/>
              </a:ext>
            </a:extLst>
          </p:cNvPr>
          <p:cNvSpPr txBox="1"/>
          <p:nvPr/>
        </p:nvSpPr>
        <p:spPr>
          <a:xfrm>
            <a:off x="1077530" y="2171936"/>
            <a:ext cx="4264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📋 CLAIM FORMS Extract: </a:t>
            </a:r>
          </a:p>
          <a:p>
            <a:r>
              <a:rPr lang="en-US" dirty="0"/>
              <a:t>	Claim #, Policy #, Amount, Date, Status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1CCA83-84B6-5F14-DAFA-2065CDB3BAD3}"/>
              </a:ext>
            </a:extLst>
          </p:cNvPr>
          <p:cNvSpPr txBox="1"/>
          <p:nvPr/>
        </p:nvSpPr>
        <p:spPr>
          <a:xfrm>
            <a:off x="6469626" y="2171935"/>
            <a:ext cx="5253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💰 INVOICES Extract: </a:t>
            </a:r>
          </a:p>
          <a:p>
            <a:r>
              <a:rPr lang="en-US" dirty="0"/>
              <a:t>	Invoice #, Amount Due, Vendor, Payment Terms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F0313-C257-73D3-90E5-3218E0670FC1}"/>
              </a:ext>
            </a:extLst>
          </p:cNvPr>
          <p:cNvSpPr txBox="1"/>
          <p:nvPr/>
        </p:nvSpPr>
        <p:spPr>
          <a:xfrm>
            <a:off x="1038205" y="3303554"/>
            <a:ext cx="5057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🔍 INSPECTION REPORTS Extract: </a:t>
            </a:r>
          </a:p>
          <a:p>
            <a:r>
              <a:rPr lang="en-US" dirty="0"/>
              <a:t>	Report #, Date, Property, Damage Assessment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E5C72-C028-7838-5008-A1D4B211797F}"/>
              </a:ext>
            </a:extLst>
          </p:cNvPr>
          <p:cNvSpPr txBox="1"/>
          <p:nvPr/>
        </p:nvSpPr>
        <p:spPr>
          <a:xfrm>
            <a:off x="6469626" y="3303554"/>
            <a:ext cx="3942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📄 POLICY DOCUMENTS Extract: </a:t>
            </a:r>
          </a:p>
          <a:p>
            <a:r>
              <a:rPr lang="en-US" dirty="0"/>
              <a:t>	Policy #, Coverage, Premium, Terms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75556-13B3-74F1-6E92-582D99333D09}"/>
              </a:ext>
            </a:extLst>
          </p:cNvPr>
          <p:cNvSpPr txBox="1"/>
          <p:nvPr/>
        </p:nvSpPr>
        <p:spPr>
          <a:xfrm>
            <a:off x="4201789" y="4357916"/>
            <a:ext cx="4102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📮 COVER LETTERS Extract: </a:t>
            </a:r>
          </a:p>
          <a:p>
            <a:r>
              <a:rPr lang="en-IN" dirty="0"/>
              <a:t>	Date, Recipient, Subject, Attachments</a:t>
            </a:r>
          </a:p>
        </p:txBody>
      </p:sp>
    </p:spTree>
    <p:extLst>
      <p:ext uri="{BB962C8B-B14F-4D97-AF65-F5344CB8AC3E}">
        <p14:creationId xmlns:p14="http://schemas.microsoft.com/office/powerpoint/2010/main" val="4112495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CB18F-5F44-E7B1-6369-C3FB7F65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Streamlit</a:t>
            </a:r>
            <a:r>
              <a:rPr lang="en-IN" dirty="0"/>
              <a:t> Ui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DF1B9-A018-58F2-9856-8DD0F61D4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771" y="1545508"/>
            <a:ext cx="8622890" cy="485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13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ABBB71-BB4C-715A-2E4E-E9903234D952}"/>
              </a:ext>
            </a:extLst>
          </p:cNvPr>
          <p:cNvSpPr txBox="1"/>
          <p:nvPr/>
        </p:nvSpPr>
        <p:spPr>
          <a:xfrm>
            <a:off x="3716592" y="2228671"/>
            <a:ext cx="5201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838020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59</TotalTime>
  <Words>528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Google Sans Text</vt:lpstr>
      <vt:lpstr>Gallery</vt:lpstr>
      <vt:lpstr>Insurance Document AI Analyzer</vt:lpstr>
      <vt:lpstr>Problem Statement</vt:lpstr>
      <vt:lpstr>Our Solution </vt:lpstr>
      <vt:lpstr>System Architecture </vt:lpstr>
      <vt:lpstr>Technology Stack</vt:lpstr>
      <vt:lpstr>Multi-Agent System </vt:lpstr>
      <vt:lpstr>Document Types Supported </vt:lpstr>
      <vt:lpstr>Streamlit Ui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Kalash Khapre</dc:creator>
  <cp:lastModifiedBy>Kalash Khapre</cp:lastModifiedBy>
  <cp:revision>5</cp:revision>
  <dcterms:created xsi:type="dcterms:W3CDTF">2025-11-07T06:26:08Z</dcterms:created>
  <dcterms:modified xsi:type="dcterms:W3CDTF">2025-11-07T07:25:18Z</dcterms:modified>
</cp:coreProperties>
</file>